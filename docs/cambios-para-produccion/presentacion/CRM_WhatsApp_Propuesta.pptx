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+ WHATSAPP OFICIAL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y Fidelización de Clientes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solución para transformar la operación comercial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distribuidora de alto volumen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206240"/>
            <a:ext cx="36576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Multicell  ·  abril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vamos a ver hoy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594360" cy="502920"/>
          </a:xfrm>
          <a:prstGeom prst="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0700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actual con WhatsApp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892808"/>
            <a:ext cx="594360" cy="502920"/>
          </a:xfrm>
          <a:prstGeom prst="rect">
            <a:avLst>
              <a:gd name="adj" fmla="val 18182"/>
            </a:avLst>
          </a:prstGeom>
          <a:solidFill>
            <a:srgbClr val="10B981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11096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984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WhatsApp Business API oficial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594360" cy="502920"/>
          </a:xfrm>
          <a:prstGeom prst="rect">
            <a:avLst>
              <a:gd name="adj" fmla="val 18182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15184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68833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para una cartera grande de clientes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300984"/>
            <a:ext cx="594360" cy="502920"/>
          </a:xfrm>
          <a:prstGeom prst="rect">
            <a:avLst>
              <a:gd name="adj" fmla="val 18182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1927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39242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real: qué cambia y por qué importa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005072"/>
            <a:ext cx="594360" cy="502920"/>
          </a:xfrm>
          <a:prstGeom prst="rect">
            <a:avLst>
              <a:gd name="adj" fmla="val 18182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233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0965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Automatizaciones que mueven el negocio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4709160"/>
            <a:ext cx="594360" cy="502920"/>
          </a:xfrm>
          <a:prstGeom prst="rect">
            <a:avLst>
              <a:gd name="adj" fmla="val 18182"/>
            </a:avLst>
          </a:prstGeom>
          <a:solidFill>
            <a:srgbClr val="F59E0B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274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4800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y retorno de inversión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5413248"/>
            <a:ext cx="594360" cy="502920"/>
          </a:xfrm>
          <a:prstGeom prst="rect">
            <a:avLst>
              <a:gd name="adj" fmla="val 18182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5431536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55046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implementación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347472"/>
          </a:xfrm>
          <a:prstGeom prst="rect">
            <a:avLst>
              <a:gd name="adj" fmla="val 21053"/>
            </a:avLst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RIESGO CRÍTICO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25603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WhatsApp actual no es oficial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hoy usa Baileys — una librería que simula WhatsApp Web desde el servidor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5212080" cy="4480560"/>
          </a:xfrm>
          <a:prstGeom prst="rect">
            <a:avLst>
              <a:gd name="adj" fmla="val 2041"/>
            </a:avLst>
          </a:prstGeom>
          <a:solidFill>
            <a:srgbClr val="EF4444">
              <a:alpha val="8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PASA HOY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escanea un QR igual que un celular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NO autorizó este uso — viola los Términos de Servicio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 banear el número en cualquier momento, sin aviso previo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posibilidad de recuperar el número baneado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soporte ni recurso si falla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mensajes masivos aceleran la detección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usar en un número propio de empresa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508760"/>
            <a:ext cx="5760720" cy="4480560"/>
          </a:xfrm>
          <a:prstGeom prst="rect">
            <a:avLst>
              <a:gd name="adj" fmla="val 2041"/>
            </a:avLst>
          </a:prstGeom>
          <a:solidFill>
            <a:srgbClr val="EF4444">
              <a:alpha val="8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600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 PARA EL NEGOCIO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2011680"/>
            <a:ext cx="53035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banean el número → se pierden TODOS los contactos de WhatsApp de todos los vendedores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backup ni recuperación posible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cartera de clientes construida durante años desaparece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apelar ni pedir el desbloqueo a Meta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más grande la cartera, mayor el riesgo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2636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una cartera de clientes grande, este riesgo es inaceptable en producción.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347472"/>
          </a:xfrm>
          <a:prstGeom prst="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25603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Oficial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oficial de Meta — el mismo WhatsApp, pero con contrato, soporte y escala empresarial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2743200" cy="2286000"/>
          </a:xfrm>
          <a:prstGeom prst="rect">
            <a:avLst>
              <a:gd name="adj" fmla="val 4000"/>
            </a:avLst>
          </a:prstGeom>
          <a:solidFill>
            <a:srgbClr val="2563E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45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verificado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oficial de empresa aprobada por Meta. Sin riesgo de ban.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508760"/>
            <a:ext cx="2743200" cy="2286000"/>
          </a:xfrm>
          <a:prstGeom prst="rect">
            <a:avLst>
              <a:gd name="adj" fmla="val 4000"/>
            </a:avLst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645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8328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aprobadas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6517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prediseñados y aprobados para confirmaciones, cobros, promos.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508760"/>
            <a:ext cx="2743200" cy="2286000"/>
          </a:xfrm>
          <a:prstGeom prst="rect">
            <a:avLst>
              <a:gd name="adj" fmla="val 4000"/>
            </a:avLst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645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0936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entrantes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6517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recibe y procesa las respuestas de los clientes automáticamente.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35440" y="1508760"/>
            <a:ext cx="2743200" cy="2286000"/>
          </a:xfrm>
          <a:prstGeom prst="rect">
            <a:avLst>
              <a:gd name="adj" fmla="val 4000"/>
            </a:avLst>
          </a:prstGeom>
          <a:solidFill>
            <a:srgbClr val="2563EB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235440" y="1645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23544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reales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0" y="26517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Entregado, leído, respondido. Tasa de apertura por campaña.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9776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directa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37083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83280" y="4370832"/>
            <a:ext cx="3657600" cy="347472"/>
          </a:xfrm>
          <a:prstGeom prst="rect">
            <a:avLst>
              <a:gd name="adj" fmla="val 26316"/>
            </a:avLst>
          </a:prstGeom>
          <a:solidFill>
            <a:srgbClr val="EF4444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43708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Baileys (actual)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040880" y="4370832"/>
            <a:ext cx="4754880" cy="347472"/>
          </a:xfrm>
          <a:prstGeom prst="rect">
            <a:avLst>
              <a:gd name="adj" fmla="val 26316"/>
            </a:avLst>
          </a:prstGeom>
          <a:solidFill>
            <a:srgbClr val="10B981">
              <a:alpha val="3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0" y="437083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754880"/>
            <a:ext cx="11274552" cy="237744"/>
          </a:xfrm>
          <a:prstGeom prst="rect">
            <a:avLst>
              <a:gd name="adj" fmla="val 38462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75488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Autorizado por Meta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83280" y="475488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0880" y="4754880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Sí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99262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ban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83280" y="499262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Alto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40880" y="499262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Ninguno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5230368"/>
            <a:ext cx="11274552" cy="237744"/>
          </a:xfrm>
          <a:prstGeom prst="rect">
            <a:avLst>
              <a:gd name="adj" fmla="val 38462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523036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verificadas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83280" y="52303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40880" y="523036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Sí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546811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entrantes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83280" y="546811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Parcial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040880" y="5468112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Completo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5705856"/>
            <a:ext cx="11274552" cy="237744"/>
          </a:xfrm>
          <a:prstGeom prst="rect">
            <a:avLst>
              <a:gd name="adj" fmla="val 38462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570585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entrega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383280" y="570585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040880" y="5705856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Sí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594360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Automatizaciones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383280" y="594360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Básico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040880" y="5943600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Completo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" y="6181344"/>
            <a:ext cx="11274552" cy="237744"/>
          </a:xfrm>
          <a:prstGeom prst="rect">
            <a:avLst>
              <a:gd name="adj" fmla="val 38462"/>
            </a:avLst>
          </a:prstGeom>
          <a:solidFill>
            <a:srgbClr val="2563EB">
              <a:alpha val="9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618134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para 10.000+ contactos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383280" y="61813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040880" y="618134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Sí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correcto para una cartera enorme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24128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cientos o miles de clientes, el modelo "un número por vendedor" tiene límites. La solución profesional es diferente.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actual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212080" cy="3108960"/>
          </a:xfrm>
          <a:prstGeom prst="rect">
            <a:avLst>
              <a:gd name="adj" fmla="val 2941"/>
            </a:avLst>
          </a:prstGeom>
          <a:solidFill>
            <a:srgbClr val="EF4444">
              <a:alpha val="8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vendedor usa su número personal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vendedor se va → los chats se pierden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dueño no ve nada de lo que hablan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número necesita verificación de Meta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automatizar a escala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se multiplica por cantidad de vendedores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1500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92240" y="1600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propuesto (Chatwoot)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92240" y="1965960"/>
            <a:ext cx="5303520" cy="3108960"/>
          </a:xfrm>
          <a:prstGeom prst="rect">
            <a:avLst>
              <a:gd name="adj" fmla="val 2941"/>
            </a:avLst>
          </a:prstGeom>
          <a:solidFill>
            <a:srgbClr val="10B981">
              <a:alpha val="8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01168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número central verificado de la empresa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vendedor ve solo sus conversaciones asignadas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dueño tiene visión 360° de todo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vendedor se va → los chats quedan en el sistema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Automatizaciones en todos los clientes desde un solo lugar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fijo sin importar cuántos vendedores haya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1663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para el vendedor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5532120"/>
            <a:ext cx="2377440" cy="1005840"/>
          </a:xfrm>
          <a:prstGeom prst="rect">
            <a:avLst>
              <a:gd name="adj" fmla="val 9091"/>
            </a:avLst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55321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escribe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número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553212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200400" y="5532120"/>
            <a:ext cx="2377440" cy="1005840"/>
          </a:xfrm>
          <a:prstGeom prst="rect">
            <a:avLst>
              <a:gd name="adj" fmla="val 9091"/>
            </a:avLst>
          </a:prstGeom>
          <a:solidFill>
            <a:srgbClr val="2563EB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55321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asigna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automáticamente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vendedor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0" y="553212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126480" y="5532120"/>
            <a:ext cx="2377440" cy="1005840"/>
          </a:xfrm>
          <a:prstGeom prst="rect">
            <a:avLst>
              <a:gd name="adj" fmla="val 9091"/>
            </a:avLst>
          </a:prstGeom>
          <a:solidFill>
            <a:srgbClr val="10B981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55321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desde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panel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95360" y="553212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52560" y="5532120"/>
            <a:ext cx="2377440" cy="1005840"/>
          </a:xfrm>
          <a:prstGeom prst="rect">
            <a:avLst>
              <a:gd name="adj" fmla="val 9091"/>
            </a:avLst>
          </a:prstGeom>
          <a:solidFill>
            <a:srgbClr val="F59E0B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052560" y="55321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queda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 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solución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47088"/>
            <a:ext cx="0" cy="347472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035040" y="2990088"/>
            <a:ext cx="0" cy="347472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035040" y="4133088"/>
            <a:ext cx="0" cy="347472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035040" y="5276088"/>
            <a:ext cx="0" cy="347472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206240" y="1188720"/>
            <a:ext cx="3749040" cy="658368"/>
          </a:xfrm>
          <a:prstGeom prst="rect">
            <a:avLst>
              <a:gd name="adj" fmla="val 13889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12252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WhatsApp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43400" y="15179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oficial de mensajería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2331720"/>
            <a:ext cx="3749040" cy="658368"/>
          </a:xfrm>
          <a:prstGeom prst="rect">
            <a:avLst>
              <a:gd name="adj" fmla="val 13889"/>
            </a:avLst>
          </a:prstGeom>
          <a:solidFill>
            <a:srgbClr val="2563EB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23682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26609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 certificado (BSP)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3474720"/>
            <a:ext cx="7589520" cy="658368"/>
          </a:xfrm>
          <a:prstGeom prst="rect">
            <a:avLst>
              <a:gd name="adj" fmla="val 13889"/>
            </a:avLst>
          </a:prstGeom>
          <a:solidFill>
            <a:srgbClr val="3B82F6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423160" y="35112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Chatwoot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23160" y="38039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Bandeja compartida · Asignación de conversaciones · Historial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0" y="4617720"/>
            <a:ext cx="7589520" cy="658368"/>
          </a:xfrm>
          <a:prstGeom prst="rect">
            <a:avLst>
              <a:gd name="adj" fmla="val 13889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423160" y="46542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23160" y="49469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automatizaciones · Flujos de trabajo · Integraciones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0" y="5760720"/>
            <a:ext cx="7589520" cy="658368"/>
          </a:xfrm>
          <a:prstGeom prst="rect">
            <a:avLst>
              <a:gd name="adj" fmla="val 13889"/>
            </a:avLst>
          </a:prstGeom>
          <a:solidFill>
            <a:srgbClr val="1E3A5F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423160" y="57972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Multicell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23160" y="60899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· Ventas · Clientes · Reportes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0" y="1828800"/>
            <a:ext cx="1463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corre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servidor.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dependencia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SaaS externos.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100% tuyos.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real — lo que cambia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92240" y="10972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94960" cy="4572000"/>
          </a:xfrm>
          <a:prstGeom prst="rect">
            <a:avLst>
              <a:gd name="adj" fmla="val 2000"/>
            </a:avLst>
          </a:prstGeom>
          <a:solidFill>
            <a:srgbClr val="EF4444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92240" y="1463040"/>
            <a:ext cx="5394960" cy="4572000"/>
          </a:xfrm>
          <a:prstGeom prst="rect">
            <a:avLst>
              <a:gd name="adj" fmla="val 2000"/>
            </a:avLst>
          </a:prstGeom>
          <a:solidFill>
            <a:srgbClr val="10B981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00200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Lista de oportunidades sin vista Kanban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112264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hay pipeline visual de ventas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624328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 scoring de clientes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136392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Clientes clasificados a mano con tags de texto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648456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Historial de WhatsApp separado del CRM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4160520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 alertas ni recordatorios automáticos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4672584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 forecast de ventas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5184648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El vendedor no sabe a quién llamar primero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1600200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Pipeline Kanban con drag &amp; drop por fase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2112264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Forecast de ventas ponderado por probabilidad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2624328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Lead scoring automático: VIP, Frecuente, Dormido, Perdido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3136392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Segmentación automática y dinámica de clientes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3648456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Ficha 360°: ventas + mensajes + actividades en un solo lugar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400" y="4160520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Alertas cuando un lead lleva días sin movimiento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4672584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Notificaciones al vendedor cuando el cliente responde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29400" y="5184648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El vendedor sabe exactamente quién está listo para comprar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Automatizaciones que mueven el negocio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24128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esto funciona solo, sin que nadie lo dispare manualmente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749040" cy="1417320"/>
          </a:xfrm>
          <a:prstGeom prst="rect">
            <a:avLst>
              <a:gd name="adj" fmla="val 6452"/>
            </a:avLst>
          </a:prstGeom>
          <a:solidFill>
            <a:srgbClr val="2563EB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08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Confirmación de venta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928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registrar la venta → WhatsApp automático con detalle del pedido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749040" cy="1417320"/>
          </a:xfrm>
          <a:prstGeom prst="rect">
            <a:avLst>
              <a:gd name="adj" fmla="val 6452"/>
            </a:avLst>
          </a:prstGeom>
          <a:solidFill>
            <a:srgbClr val="2563EB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508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Pedido entregado + NPS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26280" y="18928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48hs post-entrega → encuesta de satisfacción. Si responde 1-2: alerta urgente al vendedor.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321040" y="1417320"/>
            <a:ext cx="3749040" cy="1417320"/>
          </a:xfrm>
          <a:prstGeom prst="rect">
            <a:avLst>
              <a:gd name="adj" fmla="val 6452"/>
            </a:avLst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0" y="1508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Recordatorio de pago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58200" y="18928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1, 4 y 8 de mora → escalando de tono. Día 8 notifica al dueño.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749040" cy="1417320"/>
          </a:xfrm>
          <a:prstGeom prst="rect">
            <a:avLst>
              <a:gd name="adj" fmla="val 6452"/>
            </a:avLst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063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🎂  Felicitación de cumpleaños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44728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diario → mensaje personalizado + cupón de descuento para clientes VIP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2971800"/>
            <a:ext cx="3749040" cy="1417320"/>
          </a:xfrm>
          <a:prstGeom prst="rect">
            <a:avLst>
              <a:gd name="adj" fmla="val 6452"/>
            </a:avLst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3063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 Reactivación de inactivos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26280" y="344728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 por la mañana → contacta clientes sin compras en 90/120/180 días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21040" y="2971800"/>
            <a:ext cx="3749040" cy="1417320"/>
          </a:xfrm>
          <a:prstGeom prst="rect">
            <a:avLst>
              <a:gd name="adj" fmla="val 6452"/>
            </a:avLst>
          </a:prstGeom>
          <a:solidFill>
            <a:srgbClr val="2563EB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458200" y="3063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Ascenso a cliente VIP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58200" y="344728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alcanzar el score VIP → bienvenida exclusiva + beneficios automáticos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3749040" cy="1417320"/>
          </a:xfrm>
          <a:prstGeom prst="rect">
            <a:avLst>
              <a:gd name="adj" fmla="val 6452"/>
            </a:avLst>
          </a:prstGeom>
          <a:solidFill>
            <a:srgbClr val="2563EB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617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Reporte diario al dueño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500176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8:30 AM → resumen de ventas, nuevos clientes, mejor vendedor, deudas nuevas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89120" y="4526280"/>
            <a:ext cx="3749040" cy="1417320"/>
          </a:xfrm>
          <a:prstGeom prst="rect">
            <a:avLst>
              <a:gd name="adj" fmla="val 6452"/>
            </a:avLst>
          </a:prstGeom>
          <a:solidFill>
            <a:srgbClr val="2563EB">
              <a:alpha val="7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26280" y="4617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Alerta de venta grande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26280" y="500176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Instantáneo → notifica al dueño cuando se registra una venta sobre el umbral configurado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21040" y="4526280"/>
            <a:ext cx="3749040" cy="1417320"/>
          </a:xfrm>
          <a:prstGeom prst="rect">
            <a:avLst>
              <a:gd name="adj" fmla="val 6452"/>
            </a:avLst>
          </a:prstGeom>
          <a:solidFill>
            <a:srgbClr val="2563EB">
              <a:alpha val="7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458200" y="4617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Recordatorio de garantía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58200" y="500176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días antes del vencimiento → aviso al cliente para que gestione cualquier problema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de respuesta automática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24128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al instante, 24/7. Si no puede resolver la consulta, escala al vendedor.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560320" cy="5029200"/>
          </a:xfrm>
          <a:prstGeom prst="rect">
            <a:avLst>
              <a:gd name="adj" fmla="val 3571"/>
            </a:avLst>
          </a:prstGeom>
          <a:solidFill>
            <a:srgbClr val="2563EB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6517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017520" y="1691640"/>
            <a:ext cx="64008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657600" y="1508760"/>
            <a:ext cx="2011680" cy="365760"/>
          </a:xfrm>
          <a:prstGeom prst="rect">
            <a:avLst>
              <a:gd name="adj" fmla="val 25000"/>
            </a:avLst>
          </a:prstGeom>
          <a:solidFill>
            <a:srgbClr val="3B82F6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"CATÁLOGO"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1500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15544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el PDF del catálogo actualizado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7520" y="2350008"/>
            <a:ext cx="64008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657600" y="2167128"/>
            <a:ext cx="2011680" cy="365760"/>
          </a:xfrm>
          <a:prstGeom prst="rect">
            <a:avLst>
              <a:gd name="adj" fmla="val 25000"/>
            </a:avLst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21671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"PRECIO"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15000" y="2167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221284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el producto y responde el precio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17520" y="3008376"/>
            <a:ext cx="64008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657600" y="2825496"/>
            <a:ext cx="2011680" cy="365760"/>
          </a:xfrm>
          <a:prstGeom prst="rect">
            <a:avLst>
              <a:gd name="adj" fmla="val 25000"/>
            </a:avLst>
          </a:prstGeom>
          <a:solidFill>
            <a:srgbClr val="3B82F6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282549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"GARANTÍA"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15000" y="2825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2871216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la venta y responde el estado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17520" y="3666744"/>
            <a:ext cx="64008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657600" y="3483864"/>
            <a:ext cx="2011680" cy="365760"/>
          </a:xfrm>
          <a:prstGeom prst="rect">
            <a:avLst>
              <a:gd name="adj" fmla="val 25000"/>
            </a:avLst>
          </a:prstGeom>
          <a:solidFill>
            <a:srgbClr val="3B82F6">
              <a:alpha val="3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0" y="348386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"HORARIO"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15000" y="3483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26480" y="3529584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horarios y dirección automáticamente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017520" y="4325112"/>
            <a:ext cx="64008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3657600" y="4142232"/>
            <a:ext cx="2011680" cy="365760"/>
          </a:xfrm>
          <a:prstGeom prst="rect">
            <a:avLst>
              <a:gd name="adj" fmla="val 25000"/>
            </a:avLst>
          </a:prstGeom>
          <a:solidFill>
            <a:srgbClr val="10B981">
              <a:alpha val="3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0" y="41422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"ASESOR"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15000" y="4142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26480" y="418795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lead en CRM y notifica al vendedor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017520" y="4983480"/>
            <a:ext cx="64008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3657600" y="4800600"/>
            <a:ext cx="2011680" cy="365760"/>
          </a:xfrm>
          <a:prstGeom prst="rect">
            <a:avLst>
              <a:gd name="adj" fmla="val 25000"/>
            </a:avLst>
          </a:prstGeom>
          <a:solidFill>
            <a:srgbClr val="F59E0B">
              <a:alpha val="3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0" y="4800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"STOP / BAJA"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15000" y="4800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126480" y="48463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de baja el opt-in automáticamente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017520" y="5641848"/>
            <a:ext cx="64008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3657600" y="5458968"/>
            <a:ext cx="2011680" cy="365760"/>
          </a:xfrm>
          <a:prstGeom prst="rect">
            <a:avLst>
              <a:gd name="adj" fmla="val 25000"/>
            </a:avLst>
          </a:prstGeom>
          <a:solidFill>
            <a:srgbClr val="94A3B8">
              <a:alpha val="3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0" y="54589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mensaje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715000" y="5458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126480" y="550468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 al vendedor si es horario laboral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inteligente de clientes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24128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clasifica automáticamente a cada cliente. El vendedor sabe exactamente dónde poner el foco.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4552" cy="868680"/>
          </a:xfrm>
          <a:prstGeom prst="rect">
            <a:avLst>
              <a:gd name="adj" fmla="val 10526"/>
            </a:avLst>
          </a:prstGeom>
          <a:solidFill>
            <a:srgbClr val="2563EB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08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VIP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0" y="1554480"/>
            <a:ext cx="0" cy="59436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14904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Criterio: Score alto · compras frecuentes · volumen alto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80360" y="1874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Atención prioritaria · Acceso anticipado a nuevas líneas · Precios exclusivos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49440" y="1554480"/>
            <a:ext cx="0" cy="59436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59152"/>
            <a:ext cx="11274552" cy="868680"/>
          </a:xfrm>
          <a:prstGeom prst="rect">
            <a:avLst>
              <a:gd name="adj" fmla="val 10526"/>
            </a:avLst>
          </a:prstGeom>
          <a:solidFill>
            <a:srgbClr val="2563EB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45059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Frecuente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743200" y="2496312"/>
            <a:ext cx="0" cy="59436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24323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Criterio: Compró en los últimos 60 días · 5+ compras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80360" y="28163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Contacto regular · Oferta de fidelización cada 30 días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2496312"/>
            <a:ext cx="0" cy="59436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300984"/>
            <a:ext cx="11274552" cy="868680"/>
          </a:xfrm>
          <a:prstGeom prst="rect">
            <a:avLst>
              <a:gd name="adj" fmla="val 10526"/>
            </a:avLst>
          </a:prstGeom>
          <a:solidFill>
            <a:srgbClr val="2563EB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39242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Activo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0" y="3438144"/>
            <a:ext cx="0" cy="59436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0360" y="337413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Criterio: Compró entre 30-90 días atrás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80360" y="37581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Seguimiento estándar · Catálogo actualizado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0" y="3438144"/>
            <a:ext cx="0" cy="59436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242816"/>
            <a:ext cx="11274552" cy="868680"/>
          </a:xfrm>
          <a:prstGeom prst="rect">
            <a:avLst>
              <a:gd name="adj" fmla="val 10526"/>
            </a:avLst>
          </a:prstGeom>
          <a:solidFill>
            <a:srgbClr val="2563EB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33425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Dormido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743200" y="4379976"/>
            <a:ext cx="0" cy="59436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43159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Criterio: Sin compras entre 91-180 días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80360" y="47000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Campaña de reactivación automática · 3 mensajes escalonados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49440" y="4379976"/>
            <a:ext cx="0" cy="59436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184648"/>
            <a:ext cx="11274552" cy="868680"/>
          </a:xfrm>
          <a:prstGeom prst="rect">
            <a:avLst>
              <a:gd name="adj" fmla="val 10526"/>
            </a:avLst>
          </a:prstGeom>
          <a:solidFill>
            <a:srgbClr val="2563EB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527608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Inactivo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2743200" y="5321808"/>
            <a:ext cx="0" cy="59436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80360" y="52578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Criterio: Sin compras hace más de 180 días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880360" y="56418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Acción: Campaign win-back con descuento · Si no responde, archivar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49440" y="5321808"/>
            <a:ext cx="0" cy="59436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30936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score se recalcula todos los días automáticamente. Sin trabajo manual.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mensuales estimados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651760" cy="1188720"/>
          </a:xfrm>
          <a:prstGeom prst="rect">
            <a:avLst>
              <a:gd name="adj" fmla="val 7692"/>
            </a:avLst>
          </a:prstGeom>
          <a:solidFill>
            <a:srgbClr val="10B981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(self-hosted)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automatizaciones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371600"/>
            <a:ext cx="2651760" cy="1188720"/>
          </a:xfrm>
          <a:prstGeom prst="rect">
            <a:avLst>
              <a:gd name="adj" fmla="val 7692"/>
            </a:avLst>
          </a:prstGeom>
          <a:solidFill>
            <a:srgbClr val="10B981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417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0" y="20299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Chatwoot (self-hosted)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Bandeja compartida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371600"/>
            <a:ext cx="2651760" cy="1188720"/>
          </a:xfrm>
          <a:prstGeom prst="rect">
            <a:avLst>
              <a:gd name="adj" fmla="val 7692"/>
            </a:avLst>
          </a:prstGeom>
          <a:solidFill>
            <a:srgbClr val="2563EB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1417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~36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943600" y="20299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+ Meta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~1.000 mensajes/mes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0" y="1371600"/>
            <a:ext cx="2651760" cy="1188720"/>
          </a:xfrm>
          <a:prstGeom prst="rect">
            <a:avLst>
              <a:gd name="adj" fmla="val 7692"/>
            </a:avLst>
          </a:prstGeom>
          <a:solidFill>
            <a:srgbClr val="10B981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0" y="1417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686800" y="20299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existente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más infraestructura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11274552" cy="1005840"/>
          </a:xfrm>
          <a:prstGeom prst="rect">
            <a:avLst>
              <a:gd name="adj" fmla="val 9091"/>
            </a:avLst>
          </a:prstGeom>
          <a:solidFill>
            <a:srgbClr val="2563EB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3464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MENSUAL ESTIMADO: ~USD 36 / mes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costos de Meta (conversaciones) escalan con el uso real. A mayor volumen, mayor posible retorno.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esperado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4937760"/>
            <a:ext cx="2743200" cy="1600200"/>
          </a:xfrm>
          <a:prstGeom prst="rect">
            <a:avLst>
              <a:gd name="adj" fmla="val 5714"/>
            </a:avLst>
          </a:prstGeom>
          <a:solidFill>
            <a:srgbClr val="2563EB">
              <a:alpha val="7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501091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57200" y="5623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reactivados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9253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clientes dormidos vuelven a comprar con la campaña correcta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4937760"/>
            <a:ext cx="2743200" cy="1600200"/>
          </a:xfrm>
          <a:prstGeom prst="rect">
            <a:avLst>
              <a:gd name="adj" fmla="val 5714"/>
            </a:avLst>
          </a:prstGeom>
          <a:solidFill>
            <a:srgbClr val="2563EB">
              <a:alpha val="7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501091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−80%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383280" y="5623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respuesta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59253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chatbot responde al instante sin intervención del equipo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4937760"/>
            <a:ext cx="2743200" cy="1600200"/>
          </a:xfrm>
          <a:prstGeom prst="rect">
            <a:avLst>
              <a:gd name="adj" fmla="val 5714"/>
            </a:avLst>
          </a:prstGeom>
          <a:solidFill>
            <a:srgbClr val="2563EB">
              <a:alpha val="7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501091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309360" y="5623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post-venta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59253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seguimiento automático genera compras repetidas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235440" y="4937760"/>
            <a:ext cx="2743200" cy="1600200"/>
          </a:xfrm>
          <a:prstGeom prst="rect">
            <a:avLst>
              <a:gd name="adj" fmla="val 5714"/>
            </a:avLst>
          </a:prstGeom>
          <a:solidFill>
            <a:srgbClr val="2563EB">
              <a:alpha val="7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235440" y="501091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9235440" y="5623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baneados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26880" y="59253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riesgo de perder la cartera de WhatsApp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implementación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463040"/>
            <a:ext cx="2743200" cy="4937760"/>
          </a:xfrm>
          <a:prstGeom prst="rect">
            <a:avLst>
              <a:gd name="adj" fmla="val 3333"/>
            </a:avLst>
          </a:prstGeom>
          <a:solidFill>
            <a:srgbClr val="EF4444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72768"/>
            <a:ext cx="548640" cy="548640"/>
          </a:xfrm>
          <a:prstGeom prst="rect">
            <a:avLst>
              <a:gd name="adj" fmla="val 16667"/>
            </a:avLst>
          </a:prstGeom>
          <a:solidFill>
            <a:srgbClr val="EF4444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6276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1-2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Oficial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Crear cuenta Twilio + verificar negocio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246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Registrar número oficial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794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Enviar 16 plantillas a aprobación Meta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343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Migrar sistema — apagar Baileys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6035040"/>
            <a:ext cx="1463040" cy="347472"/>
          </a:xfrm>
          <a:prstGeom prst="rect">
            <a:avLst>
              <a:gd name="adj" fmla="val 21053"/>
            </a:avLst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6035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1463040"/>
            <a:ext cx="2743200" cy="4937760"/>
          </a:xfrm>
          <a:prstGeom prst="rect">
            <a:avLst>
              <a:gd name="adj" fmla="val 3333"/>
            </a:avLst>
          </a:prstGeom>
          <a:solidFill>
            <a:srgbClr val="2563EB">
              <a:alpha val="8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383280" y="1572768"/>
            <a:ext cx="548640" cy="548640"/>
          </a:xfrm>
          <a:prstGeom prst="rect">
            <a:avLst>
              <a:gd name="adj" fmla="val 16667"/>
            </a:avLst>
          </a:prstGeom>
          <a:solidFill>
            <a:srgbClr val="2563EB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23360" y="16276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2-3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21945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Chatwoot + n8n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2697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Instalar Chatwoot en servidor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29000" y="3246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Conectar con WhatsApp API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29000" y="3794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Instalar n8n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4343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Configurar integración con el sistema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1463040"/>
            <a:ext cx="2743200" cy="4937760"/>
          </a:xfrm>
          <a:prstGeom prst="rect">
            <a:avLst>
              <a:gd name="adj" fmla="val 3333"/>
            </a:avLst>
          </a:prstGeom>
          <a:solidFill>
            <a:srgbClr val="3B82F6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1572768"/>
            <a:ext cx="548640" cy="548640"/>
          </a:xfrm>
          <a:prstGeom prst="rect">
            <a:avLst>
              <a:gd name="adj" fmla="val 16667"/>
            </a:avLst>
          </a:prstGeom>
          <a:solidFill>
            <a:srgbClr val="3B82F6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49440" y="16276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3-4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21945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Automatizaciones básicas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55080" y="2697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Bienvenida, confirmación de venta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55080" y="3246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Confirmación de entrega + NPS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55080" y="3794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Recordatorio de pago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55080" y="4343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Reporte diario al dueño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144000" y="1463040"/>
            <a:ext cx="2743200" cy="4937760"/>
          </a:xfrm>
          <a:prstGeom prst="rect">
            <a:avLst>
              <a:gd name="adj" fmla="val 3333"/>
            </a:avLst>
          </a:prstGeom>
          <a:solidFill>
            <a:srgbClr val="10B981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235440" y="1572768"/>
            <a:ext cx="548640" cy="548640"/>
          </a:xfrm>
          <a:prstGeom prst="rect">
            <a:avLst>
              <a:gd name="adj" fmla="val 16667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9235440" y="1572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875520" y="16276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235440" y="21945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+ Segmentación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281160" y="2697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Kanban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281160" y="3246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Lead scoring automático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281160" y="3794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Ficha 360° del cliente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281160" y="4343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Notificaciones internas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es independiente y funcional por sí sola.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El sistema actual de WhatsApp es no oficial y representa un riesgo real e inmediato de pérdida total de la cartera de clientes.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76272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La solución propuesta usa la API oficial de Meta a través de Twilio — el mismo WhatsApp, con contrato y respaldo.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072384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Para una cartera grande, el modelo correcto es bandeja compartida con Chatwoot: un número, todos los vendedores, visión total del dueño.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968496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n8n automatiza los procesos de ventas, fidelización y cobros — sin trabajo manual adicional del equipo.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86460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Costo estimado: USD 36/mes. Retorno en clientes reactivados, conversión repetida y horas de trabajo ahorradas.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5897880"/>
            <a:ext cx="11155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6080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Multicell  ·  abril de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6080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confidencial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2026-04-09T15:16:36Z</dcterms:created>
  <dcterms:modified xsi:type="dcterms:W3CDTF">2026-04-09T15:16:36Z</dcterms:modified>
</cp:coreProperties>
</file>